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7" r:id="rId7"/>
    <p:sldId id="268" r:id="rId8"/>
    <p:sldId id="269" r:id="rId9"/>
    <p:sldId id="270" r:id="rId10"/>
    <p:sldId id="262" r:id="rId11"/>
    <p:sldId id="263" r:id="rId12"/>
    <p:sldId id="264" r:id="rId13"/>
    <p:sldId id="266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67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Disruption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Semiconductor Industry  —  DRAM · NAND · HBM · GPU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3768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Aggarwal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3768" y="4791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500125299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49928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Verma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9928" y="4791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500123739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6088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Shashank Dimri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16088" y="4791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500124397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56235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589788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Abhishek Kumar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444752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3643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supply chains (DRAM, NAND, HBM, GPU) face recurring tightening events — the 2021 chip shortage, 2023 memory glut, and 2024–25 HBM/GPU allocation squeezes.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that precede these events — prices, news, filings — are scattered, unstructured, and read only in hindsight.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unified, quantitative early-warning score exists that fuses price, news-severity, and supplier-concentration signals per resource.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14136" y="1234440"/>
            <a:ext cx="5528920" cy="5120640"/>
          </a:xfrm>
          <a:prstGeom prst="roundRect">
            <a:avLst>
              <a:gd name="adj" fmla="val 2143"/>
            </a:avLst>
          </a:prstGeom>
          <a:solidFill>
            <a:srgbClr val="E9EE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370168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37016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4528" y="1444752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78728" y="2057400"/>
            <a:ext cx="53643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pipeline ingests real public signals — producer prices (yfinance), news (GDELT + NewsAPI), and SEC filings — into a structured database.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turns unstructured news into a numeric severity score (1–10), making sentiment a real model feature.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engineered features per resource-week are benchmarked across 4 ML models on a chronological split, and explained with SHAP.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live Streamlit dashboard: a 0–1 risk score per resource, refreshed weekly.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187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9187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70432" y="1417320"/>
            <a:ext cx="4747108" cy="590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Ivanov &amp; Dolgui (2020)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2007474"/>
            <a:ext cx="4747108" cy="81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of intertwined supply networks — framework for disruption propagation that motivates a quantitative early-warning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47308" y="1918716"/>
            <a:ext cx="402336" cy="402336"/>
          </a:xfrm>
          <a:prstGeom prst="ellipse">
            <a:avLst/>
          </a:prstGeom>
          <a:solidFill>
            <a:srgbClr val="5C7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347308" y="19187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77660" y="1417320"/>
            <a:ext cx="4747108" cy="590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Guestrin (2016) · Ke et al. (2017)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77660" y="2007474"/>
            <a:ext cx="4747108" cy="81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LightGBM — gradient-boosted trees remain state-of-the-art on small, mixed-signal tabular data.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2501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35250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3023616"/>
            <a:ext cx="4747108" cy="590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Hollmann et al. (2023)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613770"/>
            <a:ext cx="4747108" cy="81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 — a transformer pretrained for in-context tabular inference, evaluated here as a modern no-training baseline.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47308" y="3525012"/>
            <a:ext cx="402336" cy="402336"/>
          </a:xfrm>
          <a:prstGeom prst="ellipse">
            <a:avLst/>
          </a:prstGeom>
          <a:solidFill>
            <a:srgbClr val="5C7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347308" y="35250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7660" y="3023616"/>
            <a:ext cx="4747108" cy="590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Gorishniy et al. (2021)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77660" y="3613770"/>
            <a:ext cx="4747108" cy="81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FT-Transformer — attention-based deep learning for tabular data; benchmarked to test scaling limits at our data size.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313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51313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32" y="4629912"/>
            <a:ext cx="4747108" cy="590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 (2017)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5220066"/>
            <a:ext cx="4747108" cy="81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a unified game-theoretic framework for feature attribution, used to keep every risk score explainable.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47308" y="5131308"/>
            <a:ext cx="402336" cy="402336"/>
          </a:xfrm>
          <a:prstGeom prst="ellipse">
            <a:avLst/>
          </a:prstGeom>
          <a:solidFill>
            <a:srgbClr val="5C7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347308" y="51313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77660" y="4629912"/>
            <a:ext cx="4747108" cy="590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few-shot extraction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77660" y="5220066"/>
            <a:ext cx="4747108" cy="81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applied to convert unstructured news text into structured, numeric severity signals.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weekly risk score is built from four real, independently-sourced data points per resource.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90472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Price Series  (yfinance)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51890"/>
              </p:ext>
            </p:extLst>
          </p:nvPr>
        </p:nvGraphicFramePr>
        <p:xfrm>
          <a:off x="548640" y="1819656"/>
          <a:ext cx="5364327" cy="1792225"/>
        </p:xfrm>
        <a:graphic>
          <a:graphicData uri="http://schemas.openxmlformats.org/drawingml/2006/table">
            <a:tbl>
              <a:tblPr/>
              <a:tblGrid>
                <a:gridCol w="1788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Price (USD proxy)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DRAM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2026-07-02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975.56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HBM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2026-07-02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975.56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NAND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2026-07-02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975.56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GPU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2026-07-02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194.83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8728" y="1490472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Severity  (LLM-scored, 1–10)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48014"/>
              </p:ext>
            </p:extLst>
          </p:nvPr>
        </p:nvGraphicFramePr>
        <p:xfrm>
          <a:off x="6278728" y="1819655"/>
          <a:ext cx="5364327" cy="1790820"/>
        </p:xfrm>
        <a:graphic>
          <a:graphicData uri="http://schemas.openxmlformats.org/drawingml/2006/table">
            <a:tbl>
              <a:tblPr/>
              <a:tblGrid>
                <a:gridCol w="1788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GPU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7.0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thefastmode.com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GPU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baltimorestar.com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GPU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phoenixherald.com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39" y="3858767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Concentration  (HHI index)</a:t>
            </a:r>
            <a:endParaRPr lang="en-US" sz="14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643618"/>
              </p:ext>
            </p:extLst>
          </p:nvPr>
        </p:nvGraphicFramePr>
        <p:xfrm>
          <a:off x="548640" y="4163686"/>
          <a:ext cx="5364327" cy="1702190"/>
        </p:xfrm>
        <a:graphic>
          <a:graphicData uri="http://schemas.openxmlformats.org/drawingml/2006/table">
            <a:tbl>
              <a:tblPr/>
              <a:tblGrid>
                <a:gridCol w="1788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HHI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Top Producer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DRAM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0.53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South Korea 68%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NAND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0.37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South Korea 50%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HBM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0.82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South Korea 90%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GPU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0.82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United States 90%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278728" y="3860173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Tightening Labels</a:t>
            </a:r>
            <a:endParaRPr lang="en-US" sz="140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197821"/>
              </p:ext>
            </p:extLst>
          </p:nvPr>
        </p:nvGraphicFramePr>
        <p:xfrm>
          <a:off x="6278728" y="4163687"/>
          <a:ext cx="5364327" cy="1702190"/>
        </p:xfrm>
        <a:graphic>
          <a:graphicData uri="http://schemas.openxmlformats.org/drawingml/2006/table">
            <a:tbl>
              <a:tblPr/>
              <a:tblGrid>
                <a:gridCol w="1788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DRAM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2026-06-29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 (No Risk)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GPU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2026-06-29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 (No Risk)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HBM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2026-06-29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 (No Risk)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NAND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2026-06-29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 (No Risk)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1,112 labeled resource-weeks · 458 positive (tightening) · Jan 2023 – Jun 2026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300000"/>
            <a:ext cx="1109441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3000" b="1" i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3000" b="1" i="0" dirty="0">
              <a:solidFill>
                <a:srgbClr val="0B25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"/>
          <p:cNvSpPr/>
          <p:nvPr/>
        </p:nvSpPr>
        <p:spPr>
          <a:xfrm>
            <a:off x="548640" y="860000"/>
            <a:ext cx="11094415" cy="30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300" b="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weekly pipeline — real public signals become an explainable 0–1 risk score, all persisted in SQLite.</a:t>
            </a:r>
          </a:p>
        </p:txBody>
      </p:sp>
      <p:sp>
        <p:nvSpPr>
          <p:cNvPr id="4" name="s"/>
          <p:cNvSpPr/>
          <p:nvPr/>
        </p:nvSpPr>
        <p:spPr>
          <a:xfrm>
            <a:off x="548640" y="1300000"/>
            <a:ext cx="11094415" cy="82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"/>
          <p:cNvSpPr/>
          <p:nvPr/>
        </p:nvSpPr>
        <p:spPr>
          <a:xfrm>
            <a:off x="688640" y="1300000"/>
            <a:ext cx="1760000" cy="82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i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b="0" i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ingestion/</a:t>
            </a:r>
          </a:p>
        </p:txBody>
      </p:sp>
      <p:sp>
        <p:nvSpPr>
          <p:cNvPr id="6" name="s"/>
          <p:cNvSpPr/>
          <p:nvPr/>
        </p:nvSpPr>
        <p:spPr>
          <a:xfrm>
            <a:off x="2568640" y="143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"/>
          <p:cNvSpPr/>
          <p:nvPr/>
        </p:nvSpPr>
        <p:spPr>
          <a:xfrm>
            <a:off x="2568640" y="143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prices</a:t>
            </a:r>
          </a:p>
        </p:txBody>
      </p:sp>
      <p:sp>
        <p:nvSpPr>
          <p:cNvPr id="8" name="s"/>
          <p:cNvSpPr/>
          <p:nvPr/>
        </p:nvSpPr>
        <p:spPr>
          <a:xfrm>
            <a:off x="5633445" y="143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"/>
          <p:cNvSpPr/>
          <p:nvPr/>
        </p:nvSpPr>
        <p:spPr>
          <a:xfrm>
            <a:off x="5633445" y="143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+ NewsAPI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+ live news</a:t>
            </a:r>
          </a:p>
        </p:txBody>
      </p:sp>
      <p:sp>
        <p:nvSpPr>
          <p:cNvPr id="10" name="s"/>
          <p:cNvSpPr/>
          <p:nvPr/>
        </p:nvSpPr>
        <p:spPr>
          <a:xfrm>
            <a:off x="8698250" y="143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"/>
          <p:cNvSpPr/>
          <p:nvPr/>
        </p:nvSpPr>
        <p:spPr>
          <a:xfrm>
            <a:off x="8698250" y="143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filings</a:t>
            </a:r>
          </a:p>
        </p:txBody>
      </p:sp>
      <p:sp>
        <p:nvSpPr>
          <p:cNvPr id="12" name="a"/>
          <p:cNvSpPr/>
          <p:nvPr/>
        </p:nvSpPr>
        <p:spPr>
          <a:xfrm>
            <a:off x="5965847" y="2110000"/>
            <a:ext cx="260000" cy="170000"/>
          </a:xfrm>
          <a:prstGeom prst="downArrow">
            <a:avLst/>
          </a:prstGeom>
          <a:solidFill>
            <a:srgbClr val="C7CFD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"/>
          <p:cNvSpPr/>
          <p:nvPr/>
        </p:nvSpPr>
        <p:spPr>
          <a:xfrm>
            <a:off x="548640" y="2270000"/>
            <a:ext cx="11094415" cy="82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"/>
          <p:cNvSpPr/>
          <p:nvPr/>
        </p:nvSpPr>
        <p:spPr>
          <a:xfrm>
            <a:off x="688640" y="2270000"/>
            <a:ext cx="1760000" cy="82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i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Understanding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b="0" i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entity_resolution · clustering · llm_extraction</a:t>
            </a:r>
          </a:p>
        </p:txBody>
      </p:sp>
      <p:sp>
        <p:nvSpPr>
          <p:cNvPr id="15" name="s"/>
          <p:cNvSpPr/>
          <p:nvPr/>
        </p:nvSpPr>
        <p:spPr>
          <a:xfrm>
            <a:off x="2568640" y="240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"/>
          <p:cNvSpPr/>
          <p:nvPr/>
        </p:nvSpPr>
        <p:spPr>
          <a:xfrm>
            <a:off x="2568640" y="240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stories → resources</a:t>
            </a:r>
          </a:p>
        </p:txBody>
      </p:sp>
      <p:sp>
        <p:nvSpPr>
          <p:cNvPr id="17" name="s"/>
          <p:cNvSpPr/>
          <p:nvPr/>
        </p:nvSpPr>
        <p:spPr>
          <a:xfrm>
            <a:off x="5633445" y="240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"/>
          <p:cNvSpPr/>
          <p:nvPr/>
        </p:nvSpPr>
        <p:spPr>
          <a:xfrm>
            <a:off x="5633445" y="240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Clustering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news</a:t>
            </a:r>
          </a:p>
        </p:txBody>
      </p:sp>
      <p:sp>
        <p:nvSpPr>
          <p:cNvPr id="19" name="s"/>
          <p:cNvSpPr/>
          <p:nvPr/>
        </p:nvSpPr>
        <p:spPr>
          <a:xfrm>
            <a:off x="8698250" y="240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"/>
          <p:cNvSpPr/>
          <p:nvPr/>
        </p:nvSpPr>
        <p:spPr>
          <a:xfrm>
            <a:off x="8698250" y="240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Severity Scoring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per story</a:t>
            </a:r>
          </a:p>
        </p:txBody>
      </p:sp>
      <p:sp>
        <p:nvSpPr>
          <p:cNvPr id="21" name="a"/>
          <p:cNvSpPr/>
          <p:nvPr/>
        </p:nvSpPr>
        <p:spPr>
          <a:xfrm>
            <a:off x="5965847" y="3080000"/>
            <a:ext cx="260000" cy="170000"/>
          </a:xfrm>
          <a:prstGeom prst="downArrow">
            <a:avLst/>
          </a:prstGeom>
          <a:solidFill>
            <a:srgbClr val="C7CFD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"/>
          <p:cNvSpPr/>
          <p:nvPr/>
        </p:nvSpPr>
        <p:spPr>
          <a:xfrm>
            <a:off x="548640" y="3240000"/>
            <a:ext cx="11094415" cy="82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"/>
          <p:cNvSpPr/>
          <p:nvPr/>
        </p:nvSpPr>
        <p:spPr>
          <a:xfrm>
            <a:off x="688640" y="3240000"/>
            <a:ext cx="1760000" cy="82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i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Labels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b="0" i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· labeling</a:t>
            </a:r>
          </a:p>
        </p:txBody>
      </p:sp>
      <p:sp>
        <p:nvSpPr>
          <p:cNvPr id="24" name="s"/>
          <p:cNvSpPr/>
          <p:nvPr/>
        </p:nvSpPr>
        <p:spPr>
          <a:xfrm>
            <a:off x="2568640" y="337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5C7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"/>
          <p:cNvSpPr/>
          <p:nvPr/>
        </p:nvSpPr>
        <p:spPr>
          <a:xfrm>
            <a:off x="2568640" y="337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+ uncertainty</a:t>
            </a:r>
          </a:p>
        </p:txBody>
      </p:sp>
      <p:sp>
        <p:nvSpPr>
          <p:cNvPr id="26" name="s"/>
          <p:cNvSpPr/>
          <p:nvPr/>
        </p:nvSpPr>
        <p:spPr>
          <a:xfrm>
            <a:off x="5633445" y="337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5C7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"/>
          <p:cNvSpPr/>
          <p:nvPr/>
        </p:nvSpPr>
        <p:spPr>
          <a:xfrm>
            <a:off x="5633445" y="337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Weekly Features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trend, z, severity, HHI</a:t>
            </a:r>
          </a:p>
        </p:txBody>
      </p:sp>
      <p:sp>
        <p:nvSpPr>
          <p:cNvPr id="28" name="s"/>
          <p:cNvSpPr/>
          <p:nvPr/>
        </p:nvSpPr>
        <p:spPr>
          <a:xfrm>
            <a:off x="8698250" y="3370000"/>
            <a:ext cx="2944805" cy="560000"/>
          </a:xfrm>
          <a:prstGeom prst="roundRect">
            <a:avLst>
              <a:gd name="adj" fmla="val 8000"/>
            </a:avLst>
          </a:prstGeom>
          <a:solidFill>
            <a:srgbClr val="5C7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"/>
          <p:cNvSpPr/>
          <p:nvPr/>
        </p:nvSpPr>
        <p:spPr>
          <a:xfrm>
            <a:off x="8698250" y="3370000"/>
            <a:ext cx="2944805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Labels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 per resource-week</a:t>
            </a:r>
          </a:p>
        </p:txBody>
      </p:sp>
      <p:sp>
        <p:nvSpPr>
          <p:cNvPr id="30" name="a"/>
          <p:cNvSpPr/>
          <p:nvPr/>
        </p:nvSpPr>
        <p:spPr>
          <a:xfrm>
            <a:off x="5965847" y="4050000"/>
            <a:ext cx="260000" cy="170000"/>
          </a:xfrm>
          <a:prstGeom prst="downArrow">
            <a:avLst/>
          </a:prstGeom>
          <a:solidFill>
            <a:srgbClr val="C7CFD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"/>
          <p:cNvSpPr/>
          <p:nvPr/>
        </p:nvSpPr>
        <p:spPr>
          <a:xfrm>
            <a:off x="548640" y="4210000"/>
            <a:ext cx="11094415" cy="82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"/>
          <p:cNvSpPr/>
          <p:nvPr/>
        </p:nvSpPr>
        <p:spPr>
          <a:xfrm>
            <a:off x="688640" y="4210000"/>
            <a:ext cx="1760000" cy="82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i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Explainability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b="0" i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modeling/</a:t>
            </a:r>
          </a:p>
        </p:txBody>
      </p:sp>
      <p:sp>
        <p:nvSpPr>
          <p:cNvPr id="33" name="s"/>
          <p:cNvSpPr/>
          <p:nvPr/>
        </p:nvSpPr>
        <p:spPr>
          <a:xfrm>
            <a:off x="2568640" y="4340000"/>
            <a:ext cx="4477207" cy="560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"/>
          <p:cNvSpPr/>
          <p:nvPr/>
        </p:nvSpPr>
        <p:spPr>
          <a:xfrm>
            <a:off x="2568640" y="4340000"/>
            <a:ext cx="4477207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Benchmark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LightGBM · TabPFN · FT-Transformer</a:t>
            </a:r>
          </a:p>
        </p:txBody>
      </p:sp>
      <p:sp>
        <p:nvSpPr>
          <p:cNvPr id="35" name="s"/>
          <p:cNvSpPr/>
          <p:nvPr/>
        </p:nvSpPr>
        <p:spPr>
          <a:xfrm>
            <a:off x="7165847" y="4340000"/>
            <a:ext cx="4477207" cy="560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"/>
          <p:cNvSpPr/>
          <p:nvPr/>
        </p:nvSpPr>
        <p:spPr>
          <a:xfrm>
            <a:off x="7165847" y="4340000"/>
            <a:ext cx="4477207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per-resource</a:t>
            </a:r>
          </a:p>
        </p:txBody>
      </p:sp>
      <p:sp>
        <p:nvSpPr>
          <p:cNvPr id="37" name="a"/>
          <p:cNvSpPr/>
          <p:nvPr/>
        </p:nvSpPr>
        <p:spPr>
          <a:xfrm>
            <a:off x="5965847" y="5020000"/>
            <a:ext cx="260000" cy="170000"/>
          </a:xfrm>
          <a:prstGeom prst="downArrow">
            <a:avLst/>
          </a:prstGeom>
          <a:solidFill>
            <a:srgbClr val="C7CFD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"/>
          <p:cNvSpPr/>
          <p:nvPr/>
        </p:nvSpPr>
        <p:spPr>
          <a:xfrm>
            <a:off x="548640" y="5180000"/>
            <a:ext cx="11094415" cy="82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"/>
          <p:cNvSpPr/>
          <p:nvPr/>
        </p:nvSpPr>
        <p:spPr>
          <a:xfrm>
            <a:off x="688640" y="5180000"/>
            <a:ext cx="1760000" cy="82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i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b="0" i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risk_dashboard/</a:t>
            </a:r>
          </a:p>
        </p:txBody>
      </p:sp>
      <p:sp>
        <p:nvSpPr>
          <p:cNvPr id="40" name="s"/>
          <p:cNvSpPr/>
          <p:nvPr/>
        </p:nvSpPr>
        <p:spPr>
          <a:xfrm>
            <a:off x="2568640" y="5310000"/>
            <a:ext cx="4477207" cy="56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"/>
          <p:cNvSpPr/>
          <p:nvPr/>
        </p:nvSpPr>
        <p:spPr>
          <a:xfrm>
            <a:off x="2568640" y="5310000"/>
            <a:ext cx="4477207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Performance · Explainability · Cases</a:t>
            </a:r>
          </a:p>
        </p:txBody>
      </p:sp>
      <p:sp>
        <p:nvSpPr>
          <p:cNvPr id="42" name="s"/>
          <p:cNvSpPr/>
          <p:nvPr/>
        </p:nvSpPr>
        <p:spPr>
          <a:xfrm>
            <a:off x="7165847" y="5310000"/>
            <a:ext cx="4477207" cy="56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"/>
          <p:cNvSpPr/>
          <p:nvPr/>
        </p:nvSpPr>
        <p:spPr>
          <a:xfrm>
            <a:off x="7165847" y="5310000"/>
            <a:ext cx="4477207" cy="5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0–1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0" i="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resource, refreshed weekly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000" b="1">
                <a:solidFill>
                  <a:srgbClr val="0B2545"/>
                </a:solidFill>
                <a:latin typeface="Cambria"/>
              </a:rPr>
              <a:t>Model Deep Dive — XGBoost</a:t>
            </a:r>
          </a:p>
        </p:txBody>
      </p:sp>
      <p:pic>
        <p:nvPicPr>
          <p:cNvPr id="3" name="Picture 2" descr="model_xgboos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81328"/>
            <a:ext cx="5394960" cy="3545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81451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B6472"/>
                </a:solidFill>
                <a:latin typeface="Calibri"/>
              </a:rPr>
              <a:t>Train / test log-loss vs boosting 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81328"/>
            <a:ext cx="5074920" cy="3767328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01168" bIns="128016" rtlCol="0" anchor="t"/>
          <a:lstStyle/>
          <a:p>
            <a:pPr algn="ctr">
              <a:spcAft>
                <a:spcPts val="800"/>
              </a:spcAft>
            </a:pPr>
            <a:r>
              <a:rPr sz="1600" b="1" dirty="0">
                <a:solidFill>
                  <a:srgbClr val="0B2545"/>
                </a:solidFill>
                <a:latin typeface="Calibri"/>
              </a:rPr>
              <a:t>Hyperparameters</a:t>
            </a:r>
          </a:p>
          <a:p>
            <a:pPr>
              <a:spcAft>
                <a:spcPts val="300"/>
              </a:spcAft>
            </a:pPr>
            <a:endParaRPr lang="en-US" sz="1400" b="1" dirty="0">
              <a:solidFill>
                <a:srgbClr val="1B243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n_estimators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200 rounds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max_depth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6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learning_rate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0.1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subsample: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0.8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colsample_bytree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0.8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scale_pos_weight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neg / pos ratio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eval_metric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 err="1">
                <a:solidFill>
                  <a:srgbClr val="5B6472"/>
                </a:solidFill>
                <a:latin typeface="Calibri"/>
              </a:rPr>
              <a:t>logloss</a:t>
            </a:r>
            <a:endParaRPr sz="1400" dirty="0">
              <a:solidFill>
                <a:srgbClr val="5B647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random_state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70655"/>
            <a:ext cx="11094415" cy="80329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 dirty="0">
                <a:solidFill>
                  <a:srgbClr val="1C7293"/>
                </a:solidFill>
                <a:latin typeface="Calibri"/>
              </a:rPr>
              <a:t>Why chosen.  </a:t>
            </a:r>
            <a:r>
              <a:rPr sz="1400" dirty="0">
                <a:solidFill>
                  <a:srgbClr val="1B2430"/>
                </a:solidFill>
                <a:latin typeface="Calibri"/>
              </a:rPr>
              <a:t>The reference gradient-boosted-tree implementation and the natural fit for a small, mixed-signal tabular problem; it handles missing values natively and corrects class imbalance through </a:t>
            </a:r>
            <a:r>
              <a:rPr sz="1400" dirty="0" err="1">
                <a:solidFill>
                  <a:srgbClr val="1B2430"/>
                </a:solidFill>
                <a:latin typeface="Calibri"/>
              </a:rPr>
              <a:t>scale_pos_weight</a:t>
            </a:r>
            <a:r>
              <a:rPr sz="1400" dirty="0">
                <a:solidFill>
                  <a:srgbClr val="1B2430"/>
                </a:solidFill>
                <a:latin typeface="Calibri"/>
              </a:rPr>
              <a:t>. Training loss falls smoothly while test loss flattens near round 175 — a contained overfitting gap, and the best-</a:t>
            </a:r>
            <a:r>
              <a:rPr sz="1400" dirty="0" err="1">
                <a:solidFill>
                  <a:srgbClr val="1B2430"/>
                </a:solidFill>
                <a:latin typeface="Calibri"/>
              </a:rPr>
              <a:t>generalising</a:t>
            </a:r>
            <a:r>
              <a:rPr sz="1400" dirty="0">
                <a:solidFill>
                  <a:srgbClr val="1B2430"/>
                </a:solidFill>
                <a:latin typeface="Calibri"/>
              </a:rPr>
              <a:t> model in the benchmark.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000" b="1">
                <a:solidFill>
                  <a:srgbClr val="0B2545"/>
                </a:solidFill>
                <a:latin typeface="Cambria"/>
              </a:rPr>
              <a:t>Model Deep Dive — LightGBM</a:t>
            </a:r>
          </a:p>
        </p:txBody>
      </p:sp>
      <p:pic>
        <p:nvPicPr>
          <p:cNvPr id="3" name="Picture 2" descr="model_lightgbm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81328"/>
            <a:ext cx="5394960" cy="3545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81451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B6472"/>
                </a:solidFill>
                <a:latin typeface="Calibri"/>
              </a:rPr>
              <a:t>Train / test log-loss vs boosting round (no early stopping)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81328"/>
            <a:ext cx="5074920" cy="3767328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01168" bIns="128016" rtlCol="0" anchor="t"/>
          <a:lstStyle/>
          <a:p>
            <a:pPr algn="ctr">
              <a:spcAft>
                <a:spcPts val="800"/>
              </a:spcAft>
            </a:pPr>
            <a:r>
              <a:rPr sz="1600" b="1" dirty="0">
                <a:solidFill>
                  <a:srgbClr val="0B2545"/>
                </a:solidFill>
                <a:latin typeface="Calibri"/>
              </a:rPr>
              <a:t>Hyperparameters</a:t>
            </a:r>
          </a:p>
          <a:p>
            <a:pPr>
              <a:spcAft>
                <a:spcPts val="300"/>
              </a:spcAft>
            </a:pPr>
            <a:endParaRPr lang="en-US" sz="1400" b="1" dirty="0">
              <a:solidFill>
                <a:srgbClr val="1B243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endParaRPr lang="en-IN" sz="1400" b="1" dirty="0">
              <a:solidFill>
                <a:srgbClr val="1B243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n_estimators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100 rounds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num_leaves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31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max_depth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-1 (unlimited)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learning_rate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0.1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eval_metric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 err="1">
                <a:solidFill>
                  <a:srgbClr val="5B6472"/>
                </a:solidFill>
                <a:latin typeface="Calibri"/>
              </a:rPr>
              <a:t>binary_logloss</a:t>
            </a:r>
            <a:endParaRPr sz="1400" dirty="0">
              <a:solidFill>
                <a:srgbClr val="5B647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random_state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5670655"/>
            <a:ext cx="11094415" cy="80329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 dirty="0">
                <a:solidFill>
                  <a:srgbClr val="1C7293"/>
                </a:solidFill>
                <a:latin typeface="Calibri"/>
              </a:rPr>
              <a:t>Why chosen.  </a:t>
            </a:r>
            <a:r>
              <a:rPr sz="1400" dirty="0">
                <a:solidFill>
                  <a:srgbClr val="1B2430"/>
                </a:solidFill>
                <a:latin typeface="Calibri"/>
              </a:rPr>
              <a:t>A second, independent gradient-boosted-tree implementation, included as a cross-check on </a:t>
            </a:r>
            <a:r>
              <a:rPr sz="1400" dirty="0" err="1">
                <a:solidFill>
                  <a:srgbClr val="1B2430"/>
                </a:solidFill>
                <a:latin typeface="Calibri"/>
              </a:rPr>
              <a:t>XGBoost</a:t>
            </a:r>
            <a:r>
              <a:rPr sz="1400" dirty="0">
                <a:solidFill>
                  <a:srgbClr val="1B2430"/>
                </a:solidFill>
                <a:latin typeface="Calibri"/>
              </a:rPr>
              <a:t>; it grows trees leaf-wise with histogram splitting and trains far faster. With no early stopping, test loss bottoms out near round 43 and then rises — clear overfitting that shows up as high precision but low recall.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000" b="1">
                <a:solidFill>
                  <a:srgbClr val="0B2545"/>
                </a:solidFill>
                <a:latin typeface="Cambria"/>
              </a:rPr>
              <a:t>Model Deep Dive — TabPFN</a:t>
            </a:r>
          </a:p>
        </p:txBody>
      </p:sp>
      <p:pic>
        <p:nvPicPr>
          <p:cNvPr id="3" name="Picture 2" descr="model_tabpf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81328"/>
            <a:ext cx="5394960" cy="3382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8465" y="492861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>
                <a:solidFill>
                  <a:srgbClr val="5B6472"/>
                </a:solidFill>
                <a:latin typeface="Calibri"/>
              </a:rPr>
              <a:t>Reliability diagram &amp; predicted-probability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81328"/>
            <a:ext cx="5074920" cy="3767328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01168" bIns="128016" rtlCol="0" anchor="t"/>
          <a:lstStyle/>
          <a:p>
            <a:pPr algn="ctr">
              <a:spcAft>
                <a:spcPts val="800"/>
              </a:spcAft>
            </a:pPr>
            <a:r>
              <a:rPr sz="1600" b="1" dirty="0">
                <a:solidFill>
                  <a:srgbClr val="0B2545"/>
                </a:solidFill>
                <a:latin typeface="Calibri"/>
              </a:rPr>
              <a:t>Hyperparameters</a:t>
            </a:r>
          </a:p>
          <a:p>
            <a:pPr>
              <a:spcAft>
                <a:spcPts val="300"/>
              </a:spcAft>
            </a:pPr>
            <a:endParaRPr lang="en-US" sz="1400" b="1" dirty="0">
              <a:solidFill>
                <a:srgbClr val="1B243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endParaRPr lang="en-IN" sz="1400" b="1" dirty="0">
              <a:solidFill>
                <a:srgbClr val="1B243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Training: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none — pretrained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Tunable params: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none (library defaults)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Inference: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hosted </a:t>
            </a:r>
            <a:r>
              <a:rPr sz="1400" dirty="0" err="1">
                <a:solidFill>
                  <a:srgbClr val="5B6472"/>
                </a:solidFill>
                <a:latin typeface="Calibri"/>
              </a:rPr>
              <a:t>tabpfn</a:t>
            </a:r>
            <a:r>
              <a:rPr sz="1400" dirty="0">
                <a:solidFill>
                  <a:srgbClr val="5B6472"/>
                </a:solidFill>
                <a:latin typeface="Calibri"/>
              </a:rPr>
              <a:t>-client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random_state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n/a (deterministic)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465" y="5705856"/>
            <a:ext cx="11094415" cy="80329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 dirty="0">
                <a:solidFill>
                  <a:srgbClr val="1C7293"/>
                </a:solidFill>
                <a:latin typeface="Calibri"/>
              </a:rPr>
              <a:t>Why chosen.  </a:t>
            </a:r>
            <a:r>
              <a:rPr sz="1400" dirty="0">
                <a:solidFill>
                  <a:srgbClr val="1B2430"/>
                </a:solidFill>
                <a:latin typeface="Calibri"/>
              </a:rPr>
              <a:t>A transformer pre-trained to approximate Bayesian inference over small tabular datasets, applied in a single forward pass with no training or tuning. Its predicted probabilities are well-ordered but concentrated near zero, giving very high precision but very low recall — it rarely commits to a confident positive.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000" b="1">
                <a:solidFill>
                  <a:srgbClr val="0B2545"/>
                </a:solidFill>
                <a:latin typeface="Cambria"/>
              </a:rPr>
              <a:t>Model Deep Dive — FT-Transformer</a:t>
            </a:r>
          </a:p>
        </p:txBody>
      </p:sp>
      <p:pic>
        <p:nvPicPr>
          <p:cNvPr id="3" name="Picture 2" descr="model_f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81328"/>
            <a:ext cx="5394960" cy="3545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81451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B6472"/>
                </a:solidFill>
                <a:latin typeface="Calibri"/>
              </a:rPr>
              <a:t>Per-epoch train / validation loss (early-stopped)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81328"/>
            <a:ext cx="5074920" cy="3767328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01168" bIns="128016" rtlCol="0" anchor="t"/>
          <a:lstStyle/>
          <a:p>
            <a:pPr algn="ctr">
              <a:spcAft>
                <a:spcPts val="800"/>
              </a:spcAft>
            </a:pPr>
            <a:r>
              <a:rPr sz="1600" b="1" dirty="0">
                <a:solidFill>
                  <a:srgbClr val="0B2545"/>
                </a:solidFill>
                <a:latin typeface="Calibri"/>
              </a:rPr>
              <a:t>Hyperparameters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dim: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32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depth: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4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heads: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4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attn / ff dropout: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0.1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epochs: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30 (max)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learning_rate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1e-3</a:t>
            </a:r>
          </a:p>
          <a:p>
            <a:pPr>
              <a:spcAft>
                <a:spcPts val="300"/>
              </a:spcAft>
            </a:pPr>
            <a:r>
              <a:rPr sz="1400" b="1" dirty="0" err="1">
                <a:solidFill>
                  <a:srgbClr val="1B2430"/>
                </a:solidFill>
                <a:latin typeface="Calibri"/>
              </a:rPr>
              <a:t>batch_size</a:t>
            </a:r>
            <a:r>
              <a:rPr sz="1400" b="1" dirty="0">
                <a:solidFill>
                  <a:srgbClr val="1B2430"/>
                </a:solidFill>
                <a:latin typeface="Calibri"/>
              </a:rPr>
              <a:t>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64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optimizer: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Adam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loss: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BCE-with-logits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B2430"/>
                </a:solidFill>
                <a:latin typeface="Calibri"/>
              </a:rPr>
              <a:t>early stopping:  </a:t>
            </a:r>
            <a:r>
              <a:rPr sz="1400" dirty="0">
                <a:solidFill>
                  <a:srgbClr val="5B6472"/>
                </a:solidFill>
                <a:latin typeface="Calibri"/>
              </a:rPr>
              <a:t>patience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5812469"/>
            <a:ext cx="11094415" cy="562013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 dirty="0">
                <a:solidFill>
                  <a:srgbClr val="1C7293"/>
                </a:solidFill>
                <a:latin typeface="Calibri"/>
              </a:rPr>
              <a:t>Why chosen.  </a:t>
            </a:r>
            <a:r>
              <a:rPr sz="1400" dirty="0">
                <a:solidFill>
                  <a:srgbClr val="1B2430"/>
                </a:solidFill>
                <a:latin typeface="Calibri"/>
              </a:rPr>
              <a:t>The deep-learning baseline — it tokenizes every feature and applies self-attention across them. With only a few hundred training weeks it overfits almost immediately (early-stopped at epoch 6) and scores below chance, confirming the literature's small-data caveat for deep tabular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I — Model Benchmark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937760" cy="22860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TabPFN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FT-Transformer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F1. Ranked by F1 on the chronological (time-ordered) held-out test set.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4343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win — the expected result for a small, tabular, mixed-signal problem.</a:t>
            </a:r>
            <a:endParaRPr lang="en-US" sz="1400" dirty="0"/>
          </a:p>
        </p:txBody>
      </p:sp>
      <p:pic>
        <p:nvPicPr>
          <p:cNvPr id="6" name="Image 0" descr="/private/tmp/claude-501/-Users-yashaggarwal-Desktop-IBM/9de8927a-96e8-4b28-8d24-8fe7d04c0c2f/scratchpad/ppt_img/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75" y="1417320"/>
            <a:ext cx="5669280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II — Explainability &amp; Risk Trend</a:t>
            </a:r>
            <a:endParaRPr lang="en-US" sz="3000" dirty="0"/>
          </a:p>
        </p:txBody>
      </p:sp>
      <p:pic>
        <p:nvPicPr>
          <p:cNvPr id="3" name="Image 0" descr="/private/tmp/claude-501/-Users-yashaggarwal-Desktop-IBM/9de8927a-96e8-4b28-8d24-8fe7d04c0c2f/scratchpad/ppt_img/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8" y="1371600"/>
            <a:ext cx="8778240" cy="2340864"/>
          </a:xfrm>
          <a:prstGeom prst="rect">
            <a:avLst/>
          </a:prstGeom>
        </p:spPr>
      </p:pic>
      <p:pic>
        <p:nvPicPr>
          <p:cNvPr id="4" name="Image 1" descr="/private/tmp/claude-501/-Users-yashaggarwal-Desktop-IBM/9de8927a-96e8-4b28-8d24-8fe7d04c0c2f/scratchpad/ppt_img/shap_glo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" y="3986784"/>
            <a:ext cx="4152656" cy="2468880"/>
          </a:xfrm>
          <a:prstGeom prst="rect">
            <a:avLst/>
          </a:prstGeom>
        </p:spPr>
      </p:pic>
      <p:pic>
        <p:nvPicPr>
          <p:cNvPr id="5" name="Image 2" descr="/private/tmp/claude-501/-Users-yashaggarwal-Desktop-IBM/9de8927a-96e8-4b28-8d24-8fe7d04c0c2f/scratchpad/ppt_img/tim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886" y="3986784"/>
            <a:ext cx="6416619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87188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527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61872" y="1517904"/>
            <a:ext cx="447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48385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real public data — no synthetic or proprietary feeds required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4-model benchmark with SHAP explainability at every prediction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pipeline: ingestion → scoring → live dashboard, refreshed weekly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5868" y="1371600"/>
            <a:ext cx="5387188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411316" y="15270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11316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69100" y="1517904"/>
            <a:ext cx="447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0188" y="2084832"/>
            <a:ext cx="48385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examples cluster in the 2023 memory glut, partly confounding the time split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is uncalibrated and saturates near 0/1 — a resemblance signal, not a true probability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label set (n=1,112 weeks across 4 resources) limits generalization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87188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270248"/>
            <a:ext cx="457200" cy="457200"/>
          </a:xfrm>
          <a:prstGeom prst="ellipse">
            <a:avLst/>
          </a:prstGeom>
          <a:solidFill>
            <a:srgbClr val="5C7AE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61872" y="4261104"/>
            <a:ext cx="447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48385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negative examples across more periods, then calibrate the score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further resource categories — rare earths, silicon wafers, battery inputs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label curation to reduce manual episode-tagging effort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55868" y="4114800"/>
            <a:ext cx="5387188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1316" y="4270248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11316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69100" y="4261104"/>
            <a:ext cx="447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0188" y="4828032"/>
            <a:ext cx="48385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News/price API rate limits or provider outages could interrupt weekly refresh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drift or pricing changes could affect severity-scoring consistency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signals alone create blind spots around private contractual commitments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</a:p>
        </p:txBody>
      </p:sp>
      <p:sp>
        <p:nvSpPr>
          <p:cNvPr id="3" name="r"/>
          <p:cNvSpPr/>
          <p:nvPr/>
        </p:nvSpPr>
        <p:spPr>
          <a:xfrm>
            <a:off x="548640" y="1250000"/>
            <a:ext cx="9851404" cy="53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Ivanov and A. Dolgui, “Viability of intertwined supply networks: extending the supply chain resilience angles towards survivability,” Int. J. Prod. Res., vol. 58, no. 10, pp. 2904–2915, 2020.</a:t>
            </a:r>
          </a:p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Chen and C. Guestrin, “XGBoost: A scalable tree boosting system,” in Proc. 22nd ACM SIGKDD Int. Conf. Knowledge Discovery and Data Mining (KDD), San Francisco, CA, USA, 2016, pp. 785–794.</a:t>
            </a:r>
          </a:p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Ke et al., “LightGBM: A highly efficient gradient boosting decision tree,” in Adv. Neural Inf. Process. Syst. (NeurIPS), vol. 30, 2017, pp. 3146–3154.</a:t>
            </a:r>
          </a:p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Hollmann, S. Müller, K. Eggensperger, and F. Hutter, “TabPFN: A transformer that solves small tabular classification problems in a second,” in Proc. Int. Conf. Learning Representations (ICLR), 2023.</a:t>
            </a:r>
          </a:p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Gorishniy, I. Rubachev, V. Khrulkov, and A. Babenko, “Revisiting deep learning models for tabular data,” in Adv. Neural Inf. Process. Syst. (NeurIPS), vol. 34, 2021, pp. 18932–18943.</a:t>
            </a:r>
          </a:p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M. Lundberg and S.-I. Lee, “A unified approach to interpreting model predictions,” in Adv. Neural Inf. Process. Syst. (NeurIPS), vol. 30, 2017, pp. 4765–4774.</a:t>
            </a:r>
          </a:p>
          <a:p>
            <a:pPr marL="274320" indent="-274320">
              <a:lnSpc>
                <a:spcPct val="102000"/>
              </a:lnSpc>
              <a:spcAft>
                <a:spcPts val="900"/>
              </a:spcAft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GDELT Project, “Global Database of Events, Language, and Tone (GDELT),” 2013. [Online]. Available: https://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www.gdeltproject.org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</a:p>
          <a:p>
            <a:pPr marL="274320" indent="-274320">
              <a:lnSpc>
                <a:spcPct val="102000"/>
              </a:lnSpc>
              <a:spcAft>
                <a:spcPts val="900"/>
              </a:spcAft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“News API — Search worldwide news with code.” [Online]. Available: https://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newsapi.org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</a:p>
          <a:p>
            <a:pPr marL="274320" indent="-274320">
              <a:lnSpc>
                <a:spcPct val="102000"/>
              </a:lnSpc>
              <a:spcAft>
                <a:spcPts val="900"/>
              </a:spcAft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Securities and Exchange Commission, “EDGAR full-text search system.” [Online]. Available: https://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www.sec.gov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</a:t>
            </a:r>
            <a:endParaRPr lang="en-US" sz="1400" dirty="0">
              <a:solidFill>
                <a:srgbClr val="3A44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4320" indent="-274320">
              <a:lnSpc>
                <a:spcPct val="102000"/>
              </a:lnSpc>
              <a:spcAft>
                <a:spcPts val="900"/>
              </a:spcAft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Aroussi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Yahoo! Finance market data downloader.” [Online]. Available: https://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ranaroussi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400" dirty="0">
              <a:solidFill>
                <a:srgbClr val="3A44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endParaRPr lang="en-US" sz="1400" dirty="0">
              <a:solidFill>
                <a:srgbClr val="3A44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r"/>
          <p:cNvSpPr/>
          <p:nvPr/>
        </p:nvSpPr>
        <p:spPr>
          <a:xfrm>
            <a:off x="6250000" y="1250000"/>
            <a:ext cx="5390000" cy="53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74320" indent="-274320" algn="l">
              <a:lnSpc>
                <a:spcPct val="102000"/>
              </a:lnSpc>
              <a:spcAft>
                <a:spcPts val="900"/>
              </a:spcAft>
              <a:buNone/>
            </a:pPr>
            <a:endParaRPr lang="en-US" sz="1050" dirty="0">
              <a:solidFill>
                <a:srgbClr val="3A44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64592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023360" cy="40233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Prediction System  ·  Semiconductor Industry Case Study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1760</Words>
  <Application>Microsoft Macintosh PowerPoint</Application>
  <PresentationFormat>Widescreen</PresentationFormat>
  <Paragraphs>272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Disruption Prediction System</dc:title>
  <dc:subject>PptxGenJS Presentation</dc:subject>
  <dc:creator>Supply Chain Disruption Prediction System</dc:creator>
  <cp:lastModifiedBy>Creator Thor</cp:lastModifiedBy>
  <cp:revision>7</cp:revision>
  <dcterms:created xsi:type="dcterms:W3CDTF">2026-08-06T16:35:41Z</dcterms:created>
  <dcterms:modified xsi:type="dcterms:W3CDTF">2026-08-09T17:25:45Z</dcterms:modified>
</cp:coreProperties>
</file>